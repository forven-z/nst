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ST_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NST · AI 智能导诊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TRIAGE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智能导诊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14813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从症状描述，到推荐科室，再到挂号闭环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299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AI  ·  多轮会话  ·  安全护栏  ·  PostgreSQL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2148840" cy="960120"/>
          </a:xfrm>
          <a:prstGeom prst="roundRect">
            <a:avLst/>
          </a:prstGeom>
          <a:solidFill>
            <a:srgbClr val="E7F0FF"/>
          </a:solidFill>
          <a:ln w="17780">
            <a:solidFill>
              <a:srgbClr val="246B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453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6B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症状输入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99232" y="4636008"/>
            <a:ext cx="448056" cy="0"/>
          </a:xfrm>
          <a:prstGeom prst="line">
            <a:avLst/>
          </a:prstGeom>
          <a:noFill/>
          <a:ln w="25400">
            <a:solidFill>
              <a:srgbClr val="7DA0C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4160520"/>
            <a:ext cx="2148840" cy="960120"/>
          </a:xfrm>
          <a:prstGeom prst="roundRect">
            <a:avLst/>
          </a:prstGeom>
          <a:solidFill>
            <a:srgbClr val="DFF7F5"/>
          </a:solidFill>
          <a:ln w="17780">
            <a:solidFill>
              <a:srgbClr val="12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453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追问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88152" y="4636008"/>
            <a:ext cx="448056" cy="0"/>
          </a:xfrm>
          <a:prstGeom prst="line">
            <a:avLst/>
          </a:prstGeom>
          <a:noFill/>
          <a:ln w="25400">
            <a:solidFill>
              <a:srgbClr val="7DA0C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4160520"/>
            <a:ext cx="2148840" cy="960120"/>
          </a:xfrm>
          <a:prstGeom prst="roundRect">
            <a:avLst/>
          </a:prstGeom>
          <a:solidFill>
            <a:srgbClr val="E5F6EE"/>
          </a:solidFill>
          <a:ln w="17780">
            <a:solidFill>
              <a:srgbClr val="22A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453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科室推荐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77072" y="4636008"/>
            <a:ext cx="448056" cy="0"/>
          </a:xfrm>
          <a:prstGeom prst="line">
            <a:avLst/>
          </a:prstGeom>
          <a:noFill/>
          <a:ln w="25400">
            <a:solidFill>
              <a:srgbClr val="7DA0C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4160520"/>
            <a:ext cx="2148840" cy="960120"/>
          </a:xfrm>
          <a:prstGeom prst="roundRect">
            <a:avLst/>
          </a:prstGeom>
          <a:solidFill>
            <a:srgbClr val="FFF3D6"/>
          </a:solidFill>
          <a:ln w="1778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4453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一键挂号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6035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模块实现说明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我们实现了什么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面向患者端小程序的完整智能导诊体验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606040" cy="1874520"/>
          </a:xfrm>
          <a:prstGeom prst="roundRect">
            <a:avLst>
              <a:gd name="adj" fmla="val 2439"/>
            </a:avLst>
          </a:prstGeom>
          <a:solidFill>
            <a:srgbClr val="E7F0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64008" cy="187452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892808"/>
            <a:ext cx="22402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接收患者的自然语言症状，结合历史消息进行上下文理解。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2606040" cy="1874520"/>
          </a:xfrm>
          <a:prstGeom prst="roundRect">
            <a:avLst>
              <a:gd name="adj" fmla="val 2439"/>
            </a:avLst>
          </a:prstGeom>
          <a:solidFill>
            <a:srgbClr val="DFF7F5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325880"/>
            <a:ext cx="64008" cy="1874520"/>
          </a:xfrm>
          <a:prstGeom prst="rect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4904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1892808"/>
            <a:ext cx="22402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判断信息是否充分；若不足，生成 1–2 个关键追问。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2606040" cy="1874520"/>
          </a:xfrm>
          <a:prstGeom prst="roundRect">
            <a:avLst>
              <a:gd name="adj" fmla="val 2439"/>
            </a:avLst>
          </a:prstGeom>
          <a:solidFill>
            <a:srgbClr val="E5F6EE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25880"/>
            <a:ext cx="64008" cy="18745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904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1892808"/>
            <a:ext cx="22402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信息充分或达到轮次上限后，输出规范化科室推荐。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0" y="1325880"/>
            <a:ext cx="2606040" cy="1874520"/>
          </a:xfrm>
          <a:prstGeom prst="roundRect">
            <a:avLst>
              <a:gd name="adj" fmla="val 2439"/>
            </a:avLst>
          </a:prstGeom>
          <a:solidFill>
            <a:srgbClr val="FFF3D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325880"/>
            <a:ext cx="64008" cy="18745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4904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62288" y="1892808"/>
            <a:ext cx="22402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小程序弹出科室入口，进入挂号页，并回写挂号关联。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49040"/>
            <a:ext cx="10972800" cy="1481328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142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1E0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31720" y="39776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大模型负责理解与决策，后端负责边界、数据与安全。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359152" y="459028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既有“智能感”，又能稳定接入医院现有挂号流程。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模块与小程序、网关、数据库、HIS 的协作边界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783080" cy="2148840"/>
          </a:xfrm>
          <a:prstGeom prst="roundRect">
            <a:avLst>
              <a:gd name="adj" fmla="val 2564"/>
            </a:avLst>
          </a:prstGeom>
          <a:solidFill>
            <a:srgbClr val="E7F0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81328"/>
            <a:ext cx="64008" cy="214884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4592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患者端小程序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14173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症状输入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消息展示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推荐科室弹窗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2542032"/>
            <a:ext cx="438912" cy="0"/>
          </a:xfrm>
          <a:prstGeom prst="line">
            <a:avLst/>
          </a:prstGeom>
          <a:noFill/>
          <a:ln w="25400">
            <a:solidFill>
              <a:srgbClr val="8AA0B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1481328"/>
            <a:ext cx="1783080" cy="2148840"/>
          </a:xfrm>
          <a:prstGeom prst="roundRect">
            <a:avLst>
              <a:gd name="adj" fmla="val 2564"/>
            </a:avLst>
          </a:prstGeom>
          <a:solidFill>
            <a:srgbClr val="DFF7F5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481328"/>
            <a:ext cx="64008" cy="2148840"/>
          </a:xfrm>
          <a:prstGeom prst="rect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64592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14173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路由转发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鉴权与跨域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542032"/>
            <a:ext cx="438912" cy="0"/>
          </a:xfrm>
          <a:prstGeom prst="line">
            <a:avLst/>
          </a:prstGeom>
          <a:noFill/>
          <a:ln w="25400">
            <a:solidFill>
              <a:srgbClr val="8AA0B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49240" y="1481328"/>
            <a:ext cx="1783080" cy="2148840"/>
          </a:xfrm>
          <a:prstGeom prst="roundRect">
            <a:avLst>
              <a:gd name="adj" fmla="val 2564"/>
            </a:avLst>
          </a:prstGeom>
          <a:solidFill>
            <a:srgbClr val="E5F6EE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481328"/>
            <a:ext cx="64008" cy="21488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164592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Bridge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0408" y="2048256"/>
            <a:ext cx="14173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会话编排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轮次控制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安全兜底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2542032"/>
            <a:ext cx="438912" cy="0"/>
          </a:xfrm>
          <a:prstGeom prst="line">
            <a:avLst/>
          </a:prstGeom>
          <a:noFill/>
          <a:ln w="25400">
            <a:solidFill>
              <a:srgbClr val="8AA0B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1481328"/>
            <a:ext cx="1783080" cy="2148840"/>
          </a:xfrm>
          <a:prstGeom prst="roundRect">
            <a:avLst>
              <a:gd name="adj" fmla="val 2564"/>
            </a:avLst>
          </a:prstGeom>
          <a:solidFill>
            <a:srgbClr val="FFF3D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1481328"/>
            <a:ext cx="64008" cy="21488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7848" y="164592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AI / Qwen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27848" y="2048256"/>
            <a:ext cx="14173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症状理解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关键追问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结构化决策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55480" y="2542032"/>
            <a:ext cx="438912" cy="0"/>
          </a:xfrm>
          <a:prstGeom prst="line">
            <a:avLst/>
          </a:prstGeom>
          <a:noFill/>
          <a:ln w="25400">
            <a:solidFill>
              <a:srgbClr val="8AA0B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04120" y="1481328"/>
            <a:ext cx="1783080" cy="2148840"/>
          </a:xfrm>
          <a:prstGeom prst="roundRect">
            <a:avLst>
              <a:gd name="adj" fmla="val 2564"/>
            </a:avLst>
          </a:prstGeom>
          <a:solidFill>
            <a:srgbClr val="EEE9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04120" y="1481328"/>
            <a:ext cx="64008" cy="214884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05288" y="164592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05288" y="2048256"/>
            <a:ext cx="14173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ai_chat_session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department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挂号关联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4315968"/>
            <a:ext cx="4892040" cy="384048"/>
          </a:xfrm>
          <a:prstGeom prst="roundRect">
            <a:avLst/>
          </a:prstGeom>
          <a:solidFill>
            <a:srgbClr val="EDF3FF"/>
          </a:solidFill>
          <a:ln>
            <a:solidFill>
              <a:srgbClr val="C9D9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/api/v1/ai/triage/chat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4315968"/>
            <a:ext cx="5440680" cy="384048"/>
          </a:xfrm>
          <a:prstGeom prst="roundRect">
            <a:avLst/>
          </a:prstGeom>
          <a:solidFill>
            <a:srgbClr val="EAF7F1"/>
          </a:solidFill>
          <a:ln>
            <a:solidFill>
              <a:srgbClr val="BCE8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A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/api/v1/ai/triage/sessions/{sessionNo}/bind-register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97280" y="51023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模块不创建挂号单，只在 HIS 挂号成功后记录会话与 register_id 的关联。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一次导诊请求如何流转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TriageChatService 是流程编排核心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66928" cy="566928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恢复或创建会话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sessionNo 获取历史消息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566928" cy="566928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6636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急症规则拦截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70992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胸痛、意识障碍等先提示急诊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566928" cy="566928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调用大模型分析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0" y="170992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要求返回严格 JSON 结构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192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决定追问或推荐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844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信息不足继续问，充分则推荐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200400"/>
            <a:ext cx="566928" cy="566928"/>
          </a:xfrm>
          <a:prstGeom prst="ellipse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3192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后端清洗与校验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35844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科室白名单、轮数、默认兜底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200400"/>
            <a:ext cx="566928" cy="566928"/>
          </a:xfrm>
          <a:prstGeom prst="ellipse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3192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0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持久化并返回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35844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JSONB 消息，响应小程序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51560" y="5193792"/>
            <a:ext cx="10058400" cy="59436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142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35838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每次请求都经历：理解 → 决策 → 校验 → 记录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多轮追问与轮数控制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默认最多追问 3 轮，避免对话无限延长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846320" cy="603504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99616" y="1335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我头疼，还有点恶心。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00200" y="1965960"/>
            <a:ext cx="5349240" cy="603504"/>
          </a:xfrm>
          <a:prstGeom prst="roundRect">
            <a:avLst/>
          </a:prstGeom>
          <a:solidFill>
            <a:srgbClr val="DFF7F5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2075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68296" y="20665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头疼持续多久？是否伴随发热、视物模糊或肢体无力？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5303520" cy="603504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8986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99616" y="28895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两天了，没有发热，也没有肢体无力。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600200" y="3611880"/>
            <a:ext cx="5349240" cy="603504"/>
          </a:xfrm>
          <a:prstGeom prst="roundRect">
            <a:avLst/>
          </a:prstGeom>
          <a:solidFill>
            <a:srgbClr val="E5F6E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46504" y="37216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68296" y="37124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信息已较充分，建议优先挂神经内科。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0" y="1234440"/>
            <a:ext cx="37947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234440"/>
            <a:ext cx="64008" cy="11430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39903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每轮只问关键问题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99248" y="1801368"/>
            <a:ext cx="34290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模型每次最多生成 1–2 个问题，减少患者负担。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8080" y="2697480"/>
            <a:ext cx="37947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697480"/>
            <a:ext cx="64008" cy="11430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286207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达到上限强制收敛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99248" y="3264408"/>
            <a:ext cx="34290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轮仍不充分时，基于已有信息给出最佳科室建议。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4160520"/>
            <a:ext cx="3794760" cy="1143000"/>
          </a:xfrm>
          <a:prstGeom prst="roundRect">
            <a:avLst>
              <a:gd name="adj" fmla="val 4000"/>
            </a:avLst>
          </a:prstGeom>
          <a:solidFill>
            <a:srgbClr val="FFF0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4160520"/>
            <a:ext cx="64008" cy="1143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432511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急症不参与普通追问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99248" y="4727448"/>
            <a:ext cx="34290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命中高风险症状时优先建议急诊或立即就医。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大模型如何参与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不是让模型自由聊天，而是让它完成受约束的结构化决策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46120" cy="4251960"/>
          </a:xfrm>
          <a:prstGeom prst="roundRect">
            <a:avLst>
              <a:gd name="adj" fmla="val 1408"/>
            </a:avLst>
          </a:prstGeom>
          <a:solidFill>
            <a:srgbClr val="E7F0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64008" cy="425196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9903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801368"/>
            <a:ext cx="28803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患者本轮描述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历史对话摘要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可用科室列表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当前追问轮次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安全与输出规则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246120" cy="4251960"/>
          </a:xfrm>
          <a:prstGeom prst="roundRect">
            <a:avLst>
              <a:gd name="adj" fmla="val 1408"/>
            </a:avLst>
          </a:prstGeom>
          <a:solidFill>
            <a:srgbClr val="DFF7F5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234440"/>
            <a:ext cx="64008" cy="4251960"/>
          </a:xfrm>
          <a:prstGeom prst="rect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39903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1801368"/>
            <a:ext cx="28803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action：ASK / RECOMMEND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questions：追问列表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department：目标科室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reason：推荐理由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emergency：风险标记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1234440"/>
            <a:ext cx="3246120" cy="4251960"/>
          </a:xfrm>
          <a:prstGeom prst="roundRect">
            <a:avLst>
              <a:gd name="adj" fmla="val 1408"/>
            </a:avLst>
          </a:prstGeom>
          <a:solidFill>
            <a:srgbClr val="E5F6EE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234440"/>
            <a:ext cx="64008" cy="42519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139903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后端安全护栏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22208" y="1801368"/>
            <a:ext cx="28803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JSON 解析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科室白名单校验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敏感内容清洗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异常降级回复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最大轮次控制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13632" y="3364992"/>
            <a:ext cx="493776" cy="0"/>
          </a:xfrm>
          <a:prstGeom prst="line">
            <a:avLst/>
          </a:prstGeom>
          <a:noFill/>
          <a:ln w="25400">
            <a:solidFill>
              <a:srgbClr val="246BF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54112" y="3364992"/>
            <a:ext cx="493776" cy="0"/>
          </a:xfrm>
          <a:prstGeom prst="line">
            <a:avLst/>
          </a:prstGeom>
          <a:noFill/>
          <a:ln w="25400">
            <a:solidFill>
              <a:srgbClr val="12A6A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240280" y="5788152"/>
            <a:ext cx="7680960" cy="329184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模型负责“理解”，后端负责“可信地执行”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会话持久化与科室动态读取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让导诊可追踪，也让科室配置随数据库变化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5780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64008" cy="438912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99032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ai_chat_session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801368"/>
            <a:ext cx="489204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session_no：业务会话号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scene：TRIAGE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patient_id：患者关联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register_id：挂号成功后绑定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messages：JSONB 对话消息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create_time / update_time：审计时间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2578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34440"/>
            <a:ext cx="64008" cy="1965960"/>
          </a:xfrm>
          <a:prstGeom prst="rect">
            <a:avLst/>
          </a:prstGeom>
          <a:solidFill>
            <a:srgbClr val="12A6A6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399032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1801368"/>
            <a:ext cx="489204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仅读取有效门诊科室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dept_code + dept_name</a:t>
            </a:r>
            <a:endParaRPr lang="en-US" sz="1050" dirty="0"/>
          </a:p>
          <a:p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支持别名规范化与默认回退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3584448"/>
            <a:ext cx="4681728" cy="132588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dept_code, dept_name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department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delmark = 0 AND dept_type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sort_no, 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内存缓存 + 数据库持久化：数据库暂不可用时仍可继续当前会话，恢复后可再次落库。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从推荐科室到挂号闭环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无需改动 HIS 核心逻辑，通过小程序端完成流程串联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2331720" cy="1920240"/>
          </a:xfrm>
          <a:prstGeom prst="roundRect">
            <a:avLst/>
          </a:prstGeom>
          <a:solidFill>
            <a:srgbClr val="E7F0FF"/>
          </a:solidFill>
          <a:ln w="16510">
            <a:solidFill>
              <a:srgbClr val="246B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384048" cy="384048"/>
          </a:xfrm>
          <a:prstGeom prst="ellipse">
            <a:avLst/>
          </a:prstGeom>
          <a:solidFill>
            <a:srgbClr val="246BFD"/>
          </a:solidFill>
          <a:ln>
            <a:solidFill>
              <a:srgbClr val="246B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16736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4505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返回科室编码、名称与理由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569464"/>
            <a:ext cx="429768" cy="0"/>
          </a:xfrm>
          <a:prstGeom prst="line">
            <a:avLst/>
          </a:prstGeom>
          <a:noFill/>
          <a:ln w="25400">
            <a:solidFill>
              <a:srgbClr val="8AA0B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8728" y="1600200"/>
            <a:ext cx="2331720" cy="1920240"/>
          </a:xfrm>
          <a:prstGeom prst="roundRect">
            <a:avLst/>
          </a:prstGeom>
          <a:solidFill>
            <a:srgbClr val="DFF7F5"/>
          </a:solidFill>
          <a:ln w="16510">
            <a:solidFill>
              <a:srgbClr val="12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792224"/>
            <a:ext cx="384048" cy="384048"/>
          </a:xfrm>
          <a:prstGeom prst="ellipse">
            <a:avLst/>
          </a:prstGeom>
          <a:solidFill>
            <a:srgbClr val="12A6A6"/>
          </a:solidFill>
          <a:ln>
            <a:solidFill>
              <a:srgbClr val="12A6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97096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弹出入口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67328" y="24505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小程序展示“去挂号”按钮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2569464"/>
            <a:ext cx="429768" cy="0"/>
          </a:xfrm>
          <a:prstGeom prst="line">
            <a:avLst/>
          </a:prstGeom>
          <a:noFill/>
          <a:ln w="25400">
            <a:solidFill>
              <a:srgbClr val="8AA0B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19088" y="1600200"/>
            <a:ext cx="2331720" cy="1920240"/>
          </a:xfrm>
          <a:prstGeom prst="roundRect">
            <a:avLst/>
          </a:prstGeom>
          <a:solidFill>
            <a:srgbClr val="FFF3D6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792224"/>
            <a:ext cx="384048" cy="384048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77456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 挂号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7688" y="24505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沿用既有挂号接口创建记录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2569464"/>
            <a:ext cx="429768" cy="0"/>
          </a:xfrm>
          <a:prstGeom prst="line">
            <a:avLst/>
          </a:prstGeom>
          <a:noFill/>
          <a:ln w="25400">
            <a:solidFill>
              <a:srgbClr val="8AA0B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99448" y="1600200"/>
            <a:ext cx="2331720" cy="1920240"/>
          </a:xfrm>
          <a:prstGeom prst="roundRect">
            <a:avLst/>
          </a:prstGeom>
          <a:solidFill>
            <a:srgbClr val="E5F6EE"/>
          </a:solidFill>
          <a:ln w="16510">
            <a:solidFill>
              <a:srgbClr val="22A0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1792224"/>
            <a:ext cx="384048" cy="384048"/>
          </a:xfrm>
          <a:prstGeom prst="ellipse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57816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会话绑定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28048" y="24505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bind-register 回写 register_id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4297680"/>
            <a:ext cx="10241280" cy="1005840"/>
          </a:xfrm>
          <a:prstGeom prst="roundRect">
            <a:avLst/>
          </a:prstGeom>
          <a:solidFill>
            <a:srgbClr val="14263D"/>
          </a:solidFill>
          <a:ln w="12700">
            <a:solidFill>
              <a:srgbClr val="142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4517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结果：AI 会话可追溯到真实挂号记录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46520" y="45537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ai_chat_session.register_id  ←  register.id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5669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模块不越权创建挂号，只记录“这次导诊最终挂了哪一单”。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AI 导诊已经形成可运行、可解释、可扩展的后端闭环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10378440" cy="603504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3807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B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更智能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大模型理解自然语言并生成针对性追问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075688"/>
            <a:ext cx="10378440" cy="603504"/>
          </a:xfrm>
          <a:prstGeom prst="roundRect">
            <a:avLst/>
          </a:prstGeom>
          <a:solidFill>
            <a:srgbClr val="DFF7F5"/>
          </a:solidFill>
          <a:ln w="12700">
            <a:solidFill>
              <a:srgbClr val="12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21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21284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3 轮、急症优先、科室白名单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916936"/>
            <a:ext cx="10378440" cy="603504"/>
          </a:xfrm>
          <a:prstGeom prst="roundRect">
            <a:avLst/>
          </a:prstGeom>
          <a:solidFill>
            <a:srgbClr val="FFF3D6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05409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模型或数据库异常时有后端降级策略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758184"/>
            <a:ext cx="10378440" cy="603504"/>
          </a:xfrm>
          <a:prstGeom prst="roundRect">
            <a:avLst/>
          </a:prstGeom>
          <a:solidFill>
            <a:srgbClr val="E5F6EE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904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89534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完整会话写入 JSONB，并绑定挂号记录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599432"/>
            <a:ext cx="10378440" cy="603504"/>
          </a:xfrm>
          <a:prstGeom prst="roundRect">
            <a:avLst/>
          </a:prstGeom>
          <a:solidFill>
            <a:srgbClr val="EEE9FF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7457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可落地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7365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推荐结果直接进入现有小程序挂号流程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它不是一个“会聊天的页面”，而是一套受约束的医疗导诊流程。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AI智能导诊实现演示</dc:title>
  <dc:subject>AI智能导诊实现说明</dc:subject>
  <dc:creator>Codex</dc:creator>
  <cp:lastModifiedBy>Codex</cp:lastModifiedBy>
  <cp:revision>1</cp:revision>
  <dcterms:created xsi:type="dcterms:W3CDTF">2026-06-18T04:06:19Z</dcterms:created>
  <dcterms:modified xsi:type="dcterms:W3CDTF">2026-06-18T04:06:19Z</dcterms:modified>
</cp:coreProperties>
</file>